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2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높음</c:v>
                </c:pt>
              </c:strCache>
            </c:strRef>
          </c:tx>
          <c:spPr>
            <a:solidFill>
              <a:srgbClr val="0066CC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Pretendard SemiBold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R1</c:v>
                  </c:pt>
                  <c:pt idx="1">
                    <c:v>R2</c:v>
                  </c:pt>
                  <c:pt idx="2">
                    <c:v>R3</c:v>
                  </c:pt>
                  <c:pt idx="3">
                    <c:v>R4</c:v>
                  </c:pt>
                  <c:pt idx="4">
                    <c:v>R5</c:v>
                  </c:pt>
                  <c:pt idx="5">
                    <c:v>R6</c:v>
                  </c:pt>
                  <c:pt idx="6">
                    <c:v>R7</c:v>
                  </c:pt>
                  <c:pt idx="7">
                    <c:v>R8</c:v>
                  </c:pt>
                  <c:pt idx="8">
                    <c:v>R9</c:v>
                  </c:pt>
                  <c:pt idx="9">
                    <c:v>R10</c:v>
                  </c:pt>
                  <c:pt idx="10">
                    <c:v>R11</c:v>
                  </c:pt>
                  <c:pt idx="11">
                    <c:v>R12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</c:v>
                </c:pt>
                <c:pt idx="1">
                  <c:v>4</c:v>
                </c:pt>
                <c:pt idx="2">
                  <c:v>1</c:v>
                </c:pt>
                <c:pt idx="3">
                  <c:v>3</c:v>
                </c:pt>
                <c:pt idx="4">
                  <c:v>0</c:v>
                </c:pt>
                <c:pt idx="5">
                  <c:v>1</c:v>
                </c:pt>
                <c:pt idx="6">
                  <c:v>1</c:v>
                </c:pt>
                <c:pt idx="7">
                  <c:v>0</c:v>
                </c:pt>
                <c:pt idx="8">
                  <c:v>1</c:v>
                </c:pt>
                <c:pt idx="9">
                  <c:v>2</c:v>
                </c:pt>
                <c:pt idx="10">
                  <c:v>0</c:v>
                </c:pt>
                <c:pt idx="11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중간</c:v>
                </c:pt>
              </c:strCache>
            </c:strRef>
          </c:tx>
          <c:spPr>
            <a:solidFill>
              <a:srgbClr val="7FB2E5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Pretendard SemiBold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R1</c:v>
                  </c:pt>
                  <c:pt idx="1">
                    <c:v>R2</c:v>
                  </c:pt>
                  <c:pt idx="2">
                    <c:v>R3</c:v>
                  </c:pt>
                  <c:pt idx="3">
                    <c:v>R4</c:v>
                  </c:pt>
                  <c:pt idx="4">
                    <c:v>R5</c:v>
                  </c:pt>
                  <c:pt idx="5">
                    <c:v>R6</c:v>
                  </c:pt>
                  <c:pt idx="6">
                    <c:v>R7</c:v>
                  </c:pt>
                  <c:pt idx="7">
                    <c:v>R8</c:v>
                  </c:pt>
                  <c:pt idx="8">
                    <c:v>R9</c:v>
                  </c:pt>
                  <c:pt idx="9">
                    <c:v>R10</c:v>
                  </c:pt>
                  <c:pt idx="10">
                    <c:v>R11</c:v>
                  </c:pt>
                  <c:pt idx="11">
                    <c:v>R12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</c:v>
                </c:pt>
                <c:pt idx="1">
                  <c:v>8</c:v>
                </c:pt>
                <c:pt idx="2">
                  <c:v>3</c:v>
                </c:pt>
                <c:pt idx="3">
                  <c:v>6</c:v>
                </c:pt>
                <c:pt idx="4">
                  <c:v>3</c:v>
                </c:pt>
                <c:pt idx="5">
                  <c:v>3</c:v>
                </c:pt>
                <c:pt idx="6">
                  <c:v>1</c:v>
                </c:pt>
                <c:pt idx="7">
                  <c:v>3</c:v>
                </c:pt>
                <c:pt idx="8">
                  <c:v>2</c:v>
                </c:pt>
                <c:pt idx="9">
                  <c:v>2</c:v>
                </c:pt>
                <c:pt idx="10">
                  <c:v>1</c:v>
                </c:pt>
                <c:pt idx="11">
                  <c:v>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낮음</c:v>
                </c:pt>
              </c:strCache>
            </c:strRef>
          </c:tx>
          <c:spPr>
            <a:solidFill>
              <a:srgbClr val="C7C7CC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Pretendard SemiBold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R1</c:v>
                  </c:pt>
                  <c:pt idx="1">
                    <c:v>R2</c:v>
                  </c:pt>
                  <c:pt idx="2">
                    <c:v>R3</c:v>
                  </c:pt>
                  <c:pt idx="3">
                    <c:v>R4</c:v>
                  </c:pt>
                  <c:pt idx="4">
                    <c:v>R5</c:v>
                  </c:pt>
                  <c:pt idx="5">
                    <c:v>R6</c:v>
                  </c:pt>
                  <c:pt idx="6">
                    <c:v>R7</c:v>
                  </c:pt>
                  <c:pt idx="7">
                    <c:v>R8</c:v>
                  </c:pt>
                  <c:pt idx="8">
                    <c:v>R9</c:v>
                  </c:pt>
                  <c:pt idx="9">
                    <c:v>R10</c:v>
                  </c:pt>
                  <c:pt idx="10">
                    <c:v>R11</c:v>
                  </c:pt>
                  <c:pt idx="11">
                    <c:v>R12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</c:v>
                </c:pt>
                <c:pt idx="1">
                  <c:v>2</c:v>
                </c:pt>
                <c:pt idx="2">
                  <c:v>3</c:v>
                </c:pt>
                <c:pt idx="3">
                  <c:v>2</c:v>
                </c:pt>
                <c:pt idx="4">
                  <c:v>3</c:v>
                </c:pt>
                <c:pt idx="5">
                  <c:v>3</c:v>
                </c:pt>
                <c:pt idx="6">
                  <c:v>1</c:v>
                </c:pt>
                <c:pt idx="7">
                  <c:v>4</c:v>
                </c:pt>
                <c:pt idx="8">
                  <c:v>2</c:v>
                </c:pt>
                <c:pt idx="9">
                  <c:v>0</c:v>
                </c:pt>
                <c:pt idx="10">
                  <c:v>4</c:v>
                </c:pt>
                <c:pt idx="11">
                  <c:v>0</c:v>
                </c:pt>
              </c:numCache>
            </c:numRef>
          </c:val>
        </c:ser>
        <c:dLbls>
          <c:numFmt formatCode="0;;;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Pretendard SemiBold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D1D1F"/>
                </a:solidFill>
                <a:latin typeface="Pretendard SemiBol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33333"/>
              </a:solidFill>
              <a:latin typeface="Pretendard"/>
              <a:cs typeface="Pretendard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수정 전 시뮬레이터</c:v>
                </c:pt>
              </c:strCache>
            </c:strRef>
          </c:tx>
          <c:spPr>
            <a:solidFill>
              <a:srgbClr val="C7C7C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33333"/>
                    </a:solidFill>
                    <a:latin typeface="Pretendard SemiBol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하수구</c:v>
                  </c:pt>
                  <c:pt idx="1">
                    <c:v>강</c:v>
                  </c:pt>
                  <c:pt idx="2">
                    <c:v>바다</c:v>
                  </c:pt>
                  <c:pt idx="3">
                    <c:v>보스 클리어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</c:v>
                </c:pt>
                <c:pt idx="1">
                  <c:v>1.08</c:v>
                </c:pt>
                <c:pt idx="2">
                  <c:v>2.44</c:v>
                </c:pt>
                <c:pt idx="3">
                  <c:v>4.44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수정 전 실제 게임 (추정)</c:v>
                </c:pt>
              </c:strCache>
            </c:strRef>
          </c:tx>
          <c:spPr>
            <a:solidFill>
              <a:srgbClr val="7A7A7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33333"/>
                    </a:solidFill>
                    <a:latin typeface="Pretendard SemiBol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하수구</c:v>
                  </c:pt>
                  <c:pt idx="1">
                    <c:v>강</c:v>
                  </c:pt>
                  <c:pt idx="2">
                    <c:v>바다</c:v>
                  </c:pt>
                  <c:pt idx="3">
                    <c:v>보스 클리어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0.8</c:v>
                </c:pt>
                <c:pt idx="1">
                  <c:v>5</c:v>
                </c:pt>
                <c:pt idx="2">
                  <c:v>7.8</c:v>
                </c:pt>
                <c:pt idx="3">
                  <c:v>11.84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재조정 후</c:v>
                </c:pt>
              </c:strCache>
            </c:strRef>
          </c:tx>
          <c:spPr>
            <a:solidFill>
              <a:srgbClr val="0066C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33333"/>
                    </a:solidFill>
                    <a:latin typeface="Pretendard SemiBol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하수구</c:v>
                  </c:pt>
                  <c:pt idx="1">
                    <c:v>강</c:v>
                  </c:pt>
                  <c:pt idx="2">
                    <c:v>바다</c:v>
                  </c:pt>
                  <c:pt idx="3">
                    <c:v>보스 클리어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0.7</c:v>
                </c:pt>
                <c:pt idx="1">
                  <c:v>1.56</c:v>
                </c:pt>
                <c:pt idx="2">
                  <c:v>2.44</c:v>
                </c:pt>
                <c:pt idx="3">
                  <c:v>4.49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333333"/>
                  </a:solidFill>
                  <a:latin typeface="Pretendard SemiBol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D1D1F"/>
                </a:solidFill>
                <a:latin typeface="Pretendard SemiBol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33333"/>
              </a:solidFill>
              <a:latin typeface="Pretendard"/>
              <a:cs typeface="Pretendard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72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905" y="1874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997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QA REPORT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09905" y="2240280"/>
            <a:ext cx="10972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5600" dirty="0">
                <a:solidFill>
                  <a:srgbClr val="FFFFFF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물고기 인크리멘탈 게임</a:t>
            </a:r>
            <a:endParaRPr lang="en-US" sz="5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600" dirty="0">
                <a:solidFill>
                  <a:srgbClr val="FFFFFF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QA 리포트</a:t>
            </a:r>
            <a:endParaRPr lang="en-US" sz="5600" dirty="0"/>
          </a:p>
        </p:txBody>
      </p:sp>
      <p:sp>
        <p:nvSpPr>
          <p:cNvPr id="4" name="Text 2"/>
          <p:cNvSpPr txBox="1"/>
          <p:nvPr/>
        </p:nvSpPr>
        <p:spPr>
          <a:xfrm>
            <a:off x="609905" y="44348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CCCCC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플레이테스트 · 코드 리뷰 · 밸런스 검증 기록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5074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업데이트 2026-10-12   ·   QA 12회   ·   이슈 83건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905" y="3200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00  PROCESS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09905" y="5943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QA는 이렇게 진행했습니다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09905" y="1417320"/>
            <a:ext cx="109728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905" y="1600200"/>
            <a:ext cx="2619756" cy="29718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84225" y="18745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84225" y="2203704"/>
            <a:ext cx="20711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제보 · 로그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884225" y="2788920"/>
            <a:ext cx="20711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플레이테스트에서 나온 제보와 Unity Editor.log의 오류·경고를 먼저 모은다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394253" y="1600200"/>
            <a:ext cx="2619756" cy="29718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68573" y="18745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668573" y="2203704"/>
            <a:ext cx="20711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영역별 코드 리뷰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668573" y="2788920"/>
            <a:ext cx="20711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스킬트리 · 플레이 루프 · 데이터로 나눠 코드를 끝까지 읽고, 재현 경로가 분명한 것만 이슈로 올린다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8601" y="1600200"/>
            <a:ext cx="2619756" cy="29718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52921" y="18745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52921" y="2203704"/>
            <a:ext cx="20711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시뮬레이터 대조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452921" y="2788920"/>
            <a:ext cx="20711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밸런스 시뮬레이터의 식과 실제 게임 코드를 한 줄씩 맞대어 어긋나는 가정을 찾는다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962949" y="1600200"/>
            <a:ext cx="2619756" cy="29718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237269" y="18745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237269" y="2203704"/>
            <a:ext cx="20711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수정 · 재검증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9237269" y="2788920"/>
            <a:ext cx="20711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최소 수정 후 정적 검사와 25회 시뮬레이션으로 다시 확인하고, 프로젝트 폴더에 반영한다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09905" y="49834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12회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609905" y="551383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QA 회차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353105" y="5029200"/>
            <a:ext cx="0" cy="86868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627425" y="49834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83건</a:t>
            </a:r>
            <a:endParaRPr lang="en-US" sz="2800" dirty="0"/>
          </a:p>
        </p:txBody>
      </p:sp>
      <p:sp>
        <p:nvSpPr>
          <p:cNvPr id="25" name="Text 23"/>
          <p:cNvSpPr txBox="1"/>
          <p:nvPr/>
        </p:nvSpPr>
        <p:spPr>
          <a:xfrm>
            <a:off x="3627425" y="551383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발견한 이슈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096305" y="5029200"/>
            <a:ext cx="0" cy="86868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370625" y="49834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78건</a:t>
            </a:r>
            <a:endParaRPr lang="en-US" sz="2800" dirty="0"/>
          </a:p>
        </p:txBody>
      </p:sp>
      <p:sp>
        <p:nvSpPr>
          <p:cNvPr id="28" name="Text 26"/>
          <p:cNvSpPr txBox="1"/>
          <p:nvPr/>
        </p:nvSpPr>
        <p:spPr>
          <a:xfrm>
            <a:off x="6370625" y="551383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수정 완료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839505" y="5029200"/>
            <a:ext cx="0" cy="86868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113825" y="49834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14건</a:t>
            </a:r>
            <a:endParaRPr lang="en-US" sz="2800" dirty="0"/>
          </a:p>
        </p:txBody>
      </p:sp>
      <p:sp>
        <p:nvSpPr>
          <p:cNvPr id="31" name="Text 29"/>
          <p:cNvSpPr txBox="1"/>
          <p:nvPr/>
        </p:nvSpPr>
        <p:spPr>
          <a:xfrm>
            <a:off x="9113825" y="551383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남은 위험 · 확인 필요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09905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QA REPORT  ·  FISH GAME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10515600" y="6446520"/>
            <a:ext cx="1066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/ 35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905" y="3200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01  OVERVIEW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09905" y="5943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회차별 이슈 현황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09905" y="1417320"/>
            <a:ext cx="109728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518465" y="1600200"/>
          <a:ext cx="56692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279185" y="1600200"/>
            <a:ext cx="5303520" cy="26746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553505" y="169164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R1  2026-09-22   ·   높음 2 · 중간 4 · 낮음 0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553505" y="192938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크기 상한 · 풀트리 밸런스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9936785" y="1459611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6/6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9936785" y="1861947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수정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279185" y="1995678"/>
            <a:ext cx="5303520" cy="26746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553505" y="208711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R2  2026-09-22   ·   높음 4 · 중간 8 · 낮음 2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553505" y="232486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1차 전체 QA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9936785" y="1855089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14/14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9936785" y="2257425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수정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279185" y="2391156"/>
            <a:ext cx="5303520" cy="26746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553505" y="248259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R3  2026-09-24   ·   높음 1 · 중간 3 · 낮음 3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6553505" y="27203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스킬트리 도면형 개편 리뷰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9936785" y="2250567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7/7</a:t>
            </a:r>
            <a:endParaRPr lang="en-US" sz="2400" dirty="0"/>
          </a:p>
        </p:txBody>
      </p:sp>
      <p:sp>
        <p:nvSpPr>
          <p:cNvPr id="20" name="Text 17"/>
          <p:cNvSpPr txBox="1"/>
          <p:nvPr/>
        </p:nvSpPr>
        <p:spPr>
          <a:xfrm>
            <a:off x="9936785" y="2652903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수정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279185" y="2786634"/>
            <a:ext cx="5303520" cy="26746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53505" y="287807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R4  2026-09-24   ·   높음 3 · 중간 6 · 낮음 2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6553505" y="311581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2차 · 인게임 밸런스와 QA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9936785" y="2646045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11/11</a:t>
            </a:r>
            <a:endParaRPr lang="en-US" sz="2400" dirty="0"/>
          </a:p>
        </p:txBody>
      </p:sp>
      <p:sp>
        <p:nvSpPr>
          <p:cNvPr id="25" name="Text 22"/>
          <p:cNvSpPr txBox="1"/>
          <p:nvPr/>
        </p:nvSpPr>
        <p:spPr>
          <a:xfrm>
            <a:off x="9936785" y="3048381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수정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279185" y="3182112"/>
            <a:ext cx="5303520" cy="26746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53505" y="327355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R5  2026-09-24   ·   높음 0 · 중간 3 · 낮음 3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6553505" y="351129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타이틀 · 설정 화면 추가 리뷰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9936785" y="3041523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6/6</a:t>
            </a:r>
            <a:endParaRPr lang="en-US" sz="2400" dirty="0"/>
          </a:p>
        </p:txBody>
      </p:sp>
      <p:sp>
        <p:nvSpPr>
          <p:cNvPr id="30" name="Text 27"/>
          <p:cNvSpPr txBox="1"/>
          <p:nvPr/>
        </p:nvSpPr>
        <p:spPr>
          <a:xfrm>
            <a:off x="9936785" y="3443859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수정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279185" y="3577590"/>
            <a:ext cx="5303520" cy="26746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553505" y="366903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R6  2026-09-24   ·   높음 1 · 중간 3 · 낮음 3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6553505" y="390677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에디터 실행 테스트</a:t>
            </a:r>
            <a:endParaRPr lang="en-US" sz="1800" dirty="0"/>
          </a:p>
        </p:txBody>
      </p:sp>
      <p:sp>
        <p:nvSpPr>
          <p:cNvPr id="34" name="Text 31"/>
          <p:cNvSpPr txBox="1"/>
          <p:nvPr/>
        </p:nvSpPr>
        <p:spPr>
          <a:xfrm>
            <a:off x="9936785" y="3437001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7/7</a:t>
            </a:r>
            <a:endParaRPr lang="en-US" sz="2400" dirty="0"/>
          </a:p>
        </p:txBody>
      </p:sp>
      <p:sp>
        <p:nvSpPr>
          <p:cNvPr id="35" name="Text 32"/>
          <p:cNvSpPr txBox="1"/>
          <p:nvPr/>
        </p:nvSpPr>
        <p:spPr>
          <a:xfrm>
            <a:off x="9936785" y="3839337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수정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279185" y="3973068"/>
            <a:ext cx="5303520" cy="26746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553505" y="406450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R7  2026-09-25   ·   높음 1 · 중간 1 · 낮음 1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6553505" y="430225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장애물 통과 · 인게임 배경</a:t>
            </a:r>
            <a:endParaRPr lang="en-US" sz="1800" dirty="0"/>
          </a:p>
        </p:txBody>
      </p:sp>
      <p:sp>
        <p:nvSpPr>
          <p:cNvPr id="39" name="Text 36"/>
          <p:cNvSpPr txBox="1"/>
          <p:nvPr/>
        </p:nvSpPr>
        <p:spPr>
          <a:xfrm>
            <a:off x="9936785" y="3832479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3/3</a:t>
            </a:r>
            <a:endParaRPr lang="en-US" sz="2400" dirty="0"/>
          </a:p>
        </p:txBody>
      </p:sp>
      <p:sp>
        <p:nvSpPr>
          <p:cNvPr id="40" name="Text 37"/>
          <p:cNvSpPr txBox="1"/>
          <p:nvPr/>
        </p:nvSpPr>
        <p:spPr>
          <a:xfrm>
            <a:off x="9936785" y="4234815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수정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6279185" y="4368546"/>
            <a:ext cx="5303520" cy="26746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6553505" y="445998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R8  2026-09-25   ·   높음 0 · 중간 3 · 낮음 4</a:t>
            </a:r>
            <a:endParaRPr lang="en-US" sz="1200" dirty="0"/>
          </a:p>
        </p:txBody>
      </p:sp>
      <p:sp>
        <p:nvSpPr>
          <p:cNvPr id="43" name="Text 40"/>
          <p:cNvSpPr txBox="1"/>
          <p:nvPr/>
        </p:nvSpPr>
        <p:spPr>
          <a:xfrm>
            <a:off x="6553505" y="469773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3차 버그 점검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9936785" y="4227957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7/7</a:t>
            </a:r>
            <a:endParaRPr lang="en-US" sz="2400" dirty="0"/>
          </a:p>
        </p:txBody>
      </p:sp>
      <p:sp>
        <p:nvSpPr>
          <p:cNvPr id="45" name="Text 42"/>
          <p:cNvSpPr txBox="1"/>
          <p:nvPr/>
        </p:nvSpPr>
        <p:spPr>
          <a:xfrm>
            <a:off x="9936785" y="4630293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수정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6279185" y="4764024"/>
            <a:ext cx="5303520" cy="26746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6553505" y="485546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R9  2026-09-29   ·   높음 1 · 중간 2 · 낮음 2</a:t>
            </a:r>
            <a:endParaRPr lang="en-US" sz="1200" dirty="0"/>
          </a:p>
        </p:txBody>
      </p:sp>
      <p:sp>
        <p:nvSpPr>
          <p:cNvPr id="48" name="Text 45"/>
          <p:cNvSpPr txBox="1"/>
          <p:nvPr/>
        </p:nvSpPr>
        <p:spPr>
          <a:xfrm>
            <a:off x="6553505" y="509320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스킬트리 메인 화면 개편 · 칸별 고정 가격</a:t>
            </a:r>
            <a:endParaRPr lang="en-US" sz="1800" dirty="0"/>
          </a:p>
        </p:txBody>
      </p:sp>
      <p:sp>
        <p:nvSpPr>
          <p:cNvPr id="49" name="Text 46"/>
          <p:cNvSpPr txBox="1"/>
          <p:nvPr/>
        </p:nvSpPr>
        <p:spPr>
          <a:xfrm>
            <a:off x="9936785" y="4623435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5/5</a:t>
            </a:r>
            <a:endParaRPr lang="en-US" sz="2400" dirty="0"/>
          </a:p>
        </p:txBody>
      </p:sp>
      <p:sp>
        <p:nvSpPr>
          <p:cNvPr id="50" name="Text 47"/>
          <p:cNvSpPr txBox="1"/>
          <p:nvPr/>
        </p:nvSpPr>
        <p:spPr>
          <a:xfrm>
            <a:off x="9936785" y="5025771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수정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6279185" y="5159502"/>
            <a:ext cx="5303520" cy="26746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6553505" y="525094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R10  2026-10-05   ·   높음 2 · 중간 2 · 낮음 0</a:t>
            </a:r>
            <a:endParaRPr lang="en-US" sz="1200" dirty="0"/>
          </a:p>
        </p:txBody>
      </p:sp>
      <p:sp>
        <p:nvSpPr>
          <p:cNvPr id="53" name="Text 50"/>
          <p:cNvSpPr txBox="1"/>
          <p:nvPr/>
        </p:nvSpPr>
        <p:spPr>
          <a:xfrm>
            <a:off x="6553505" y="548868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플레이 시간 표기 · 포식 가시성 · 노가다 완화</a:t>
            </a:r>
            <a:endParaRPr lang="en-US" sz="1800" dirty="0"/>
          </a:p>
        </p:txBody>
      </p:sp>
      <p:sp>
        <p:nvSpPr>
          <p:cNvPr id="54" name="Text 51"/>
          <p:cNvSpPr txBox="1"/>
          <p:nvPr/>
        </p:nvSpPr>
        <p:spPr>
          <a:xfrm>
            <a:off x="9936785" y="5018913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4/4</a:t>
            </a:r>
            <a:endParaRPr lang="en-US" sz="2400" dirty="0"/>
          </a:p>
        </p:txBody>
      </p:sp>
      <p:sp>
        <p:nvSpPr>
          <p:cNvPr id="55" name="Text 52"/>
          <p:cNvSpPr txBox="1"/>
          <p:nvPr/>
        </p:nvSpPr>
        <p:spPr>
          <a:xfrm>
            <a:off x="9936785" y="5421249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수정</a:t>
            </a:r>
            <a:endParaRPr lang="en-US" sz="1100" dirty="0"/>
          </a:p>
        </p:txBody>
      </p:sp>
      <p:sp>
        <p:nvSpPr>
          <p:cNvPr id="56" name="Shape 53"/>
          <p:cNvSpPr/>
          <p:nvPr/>
        </p:nvSpPr>
        <p:spPr>
          <a:xfrm>
            <a:off x="6279185" y="5554980"/>
            <a:ext cx="5303520" cy="26746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6553505" y="564642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R11  2026-10-05   ·   높음 0 · 중간 1 · 낮음 4</a:t>
            </a:r>
            <a:endParaRPr lang="en-US" sz="1200" dirty="0"/>
          </a:p>
        </p:txBody>
      </p:sp>
      <p:sp>
        <p:nvSpPr>
          <p:cNvPr id="58" name="Text 55"/>
          <p:cNvSpPr txBox="1"/>
          <p:nvPr/>
        </p:nvSpPr>
        <p:spPr>
          <a:xfrm>
            <a:off x="6553505" y="588416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R10 변경분 실기 검증</a:t>
            </a:r>
            <a:endParaRPr lang="en-US" sz="1800" dirty="0"/>
          </a:p>
        </p:txBody>
      </p:sp>
      <p:sp>
        <p:nvSpPr>
          <p:cNvPr id="59" name="Text 56"/>
          <p:cNvSpPr txBox="1"/>
          <p:nvPr/>
        </p:nvSpPr>
        <p:spPr>
          <a:xfrm>
            <a:off x="9936785" y="5414391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1/5</a:t>
            </a:r>
            <a:endParaRPr lang="en-US" sz="2400" dirty="0"/>
          </a:p>
        </p:txBody>
      </p:sp>
      <p:sp>
        <p:nvSpPr>
          <p:cNvPr id="60" name="Text 57"/>
          <p:cNvSpPr txBox="1"/>
          <p:nvPr/>
        </p:nvSpPr>
        <p:spPr>
          <a:xfrm>
            <a:off x="9936785" y="5816727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수정</a:t>
            </a:r>
            <a:endParaRPr lang="en-US" sz="1100" dirty="0"/>
          </a:p>
        </p:txBody>
      </p:sp>
      <p:sp>
        <p:nvSpPr>
          <p:cNvPr id="61" name="Shape 58"/>
          <p:cNvSpPr/>
          <p:nvPr/>
        </p:nvSpPr>
        <p:spPr>
          <a:xfrm>
            <a:off x="6279185" y="5950458"/>
            <a:ext cx="5303520" cy="26746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6553505" y="604189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R12  2026-10-12   ·   높음 3 · 중간 5 · 낮음 0</a:t>
            </a:r>
            <a:endParaRPr lang="en-US" sz="1200" dirty="0"/>
          </a:p>
        </p:txBody>
      </p:sp>
      <p:sp>
        <p:nvSpPr>
          <p:cNvPr id="63" name="Text 60"/>
          <p:cNvSpPr txBox="1"/>
          <p:nvPr/>
        </p:nvSpPr>
        <p:spPr>
          <a:xfrm>
            <a:off x="6553505" y="627964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3시간 플레이 테스트 반영 — 능력 과함 · 스폰 · 카메라</a:t>
            </a:r>
            <a:endParaRPr lang="en-US" sz="1800" dirty="0"/>
          </a:p>
        </p:txBody>
      </p:sp>
      <p:sp>
        <p:nvSpPr>
          <p:cNvPr id="64" name="Text 61"/>
          <p:cNvSpPr txBox="1"/>
          <p:nvPr/>
        </p:nvSpPr>
        <p:spPr>
          <a:xfrm>
            <a:off x="9936785" y="5809869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7/8</a:t>
            </a:r>
            <a:endParaRPr lang="en-US" sz="2400" dirty="0"/>
          </a:p>
        </p:txBody>
      </p:sp>
      <p:sp>
        <p:nvSpPr>
          <p:cNvPr id="65" name="Text 62"/>
          <p:cNvSpPr txBox="1"/>
          <p:nvPr/>
        </p:nvSpPr>
        <p:spPr>
          <a:xfrm>
            <a:off x="9936785" y="6212205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수정</a:t>
            </a:r>
            <a:endParaRPr lang="en-US" sz="1100" dirty="0"/>
          </a:p>
        </p:txBody>
      </p:sp>
      <p:sp>
        <p:nvSpPr>
          <p:cNvPr id="66" name="Text 63"/>
          <p:cNvSpPr txBox="1"/>
          <p:nvPr/>
        </p:nvSpPr>
        <p:spPr>
          <a:xfrm>
            <a:off x="609905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QA REPORT  ·  FISH GAME</a:t>
            </a:r>
            <a:endParaRPr lang="en-US" sz="1000" dirty="0"/>
          </a:p>
        </p:txBody>
      </p:sp>
      <p:sp>
        <p:nvSpPr>
          <p:cNvPr id="67" name="Text 64"/>
          <p:cNvSpPr txBox="1"/>
          <p:nvPr/>
        </p:nvSpPr>
        <p:spPr>
          <a:xfrm>
            <a:off x="10515600" y="6446520"/>
            <a:ext cx="1066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/ 35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72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905" y="3200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997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R1  ·  2026-09-22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09905" y="5943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크기 상한 · 풀트리 밸런스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09905" y="1417320"/>
            <a:ext cx="10972800" cy="0"/>
          </a:xfrm>
          <a:prstGeom prst="line">
            <a:avLst/>
          </a:prstGeom>
          <a:noFill/>
          <a:ln w="9525">
            <a:solidFill>
              <a:srgbClr val="3A3A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09905" y="16916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계기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707185" y="169164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플레이테스트 제보 — 크기가 최대치보다 커진다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09905" y="21488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방법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707185" y="210312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스킬 전부 찍은 상태를 시뮬레이터로 계산해 깨지는 수치 확인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09905" y="48463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6건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609905" y="537667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발견한 이슈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09905" y="559612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높음 2 · 중간 4 · 낮음 0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53105" y="4892040"/>
            <a:ext cx="0" cy="868680"/>
          </a:xfrm>
          <a:prstGeom prst="line">
            <a:avLst/>
          </a:prstGeom>
          <a:noFill/>
          <a:ln w="9525">
            <a:solidFill>
              <a:srgbClr val="3A3A3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27425" y="4846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4.51h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3627425" y="537667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보스 클리어 (25회)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627425" y="55961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4.42 ~ 4.62h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96305" y="4892040"/>
            <a:ext cx="0" cy="868680"/>
          </a:xfrm>
          <a:prstGeom prst="line">
            <a:avLst/>
          </a:prstGeom>
          <a:noFill/>
          <a:ln w="9525">
            <a:solidFill>
              <a:srgbClr val="3A3A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70625" y="4846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25/25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6370625" y="537667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완주율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370625" y="55961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상한 도입 후 재검증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839505" y="4892040"/>
            <a:ext cx="0" cy="868680"/>
          </a:xfrm>
          <a:prstGeom prst="line">
            <a:avLst/>
          </a:prstGeom>
          <a:noFill/>
          <a:ln w="9525">
            <a:solidFill>
              <a:srgbClr val="3A3A3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13825" y="4846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57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9113825" y="537667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클리어 때 찍은 노드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113825" y="55961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옛 레벨형 트리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09905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QA REPORT  ·  FISH GAME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0515600" y="6446520"/>
            <a:ext cx="1066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/ 35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905" y="3200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R1  ·  크기 상한 · 풀트리 밸런스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09905" y="5943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발견한 문제와 조치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09905" y="1417320"/>
            <a:ext cx="109728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905" y="1600200"/>
          <a:ext cx="109728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188720"/>
                <a:gridCol w="4206240"/>
                <a:gridCol w="3931920"/>
                <a:gridCol w="9144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7A7A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심각도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7A7A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영역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7A7A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문제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7A7A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조치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7A7A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상태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6385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66CC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높음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크기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판 중 성장에 상한이 없어 기본 54.8 → 판 중 136.9까지 커짐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절대 상한 56 + 지금 구역 출구로 빠져나갈 수 있는 크기까지만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66C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✓ 수정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07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중간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카메라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시야를 다 올리면 화면 폭 2536 (바다 폭 620의 4배)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현재 구역 폭의 1.1배까지만 보이게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66C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✓ 수정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07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중간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입 판정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치아 교정을 다 찍으면 입 판정이 몸 반경의 3.8배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입 배율 상한 ×2.6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66C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✓ 수정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07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66CC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높음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10만 볼트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마비 15.2초 &gt; 쿨타임 10초 → 주변이 영구 마비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마비 시간 ≤ 쿨타임의 60% (6초)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66C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✓ 수정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85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중간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액티브 범위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청소기·볼트·미끼 범위가 고정값이라 후반엔 몸 안에 파묻힘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몸 크기에 비례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66C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✓ 수정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07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중간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액티브 강화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복리로 쌓여 +50% × 5 = 7.6배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가산으로 변경 (3.5배)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66C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✓ 수정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09905" y="52578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6건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609905" y="578815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회차에서 발견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353105" y="5303520"/>
            <a:ext cx="0" cy="86868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627425" y="52578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2건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3627425" y="57881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높음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096305" y="5303520"/>
            <a:ext cx="0" cy="86868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370625" y="52578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4건</a:t>
            </a:r>
            <a:endParaRPr lang="en-US" sz="2800" dirty="0"/>
          </a:p>
        </p:txBody>
      </p:sp>
      <p:sp>
        <p:nvSpPr>
          <p:cNvPr id="13" name="Text 10"/>
          <p:cNvSpPr txBox="1"/>
          <p:nvPr/>
        </p:nvSpPr>
        <p:spPr>
          <a:xfrm>
            <a:off x="6370625" y="57881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중간 · 낮음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839505" y="5303520"/>
            <a:ext cx="0" cy="86868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113825" y="52578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6/6</a:t>
            </a:r>
            <a:endParaRPr lang="en-US" sz="2800" dirty="0"/>
          </a:p>
        </p:txBody>
      </p:sp>
      <p:sp>
        <p:nvSpPr>
          <p:cNvPr id="16" name="Text 13"/>
          <p:cNvSpPr txBox="1"/>
          <p:nvPr/>
        </p:nvSpPr>
        <p:spPr>
          <a:xfrm>
            <a:off x="9113825" y="57881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수정 완료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09905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QA REPORT  ·  FISH GAME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10515600" y="6446520"/>
            <a:ext cx="1066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/ 35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72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905" y="3200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997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R2  ·  2026-09-22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09905" y="5943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1차 전체 QA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09905" y="1417320"/>
            <a:ext cx="10972800" cy="0"/>
          </a:xfrm>
          <a:prstGeom prst="line">
            <a:avLst/>
          </a:prstGeom>
          <a:noFill/>
          <a:ln w="9525">
            <a:solidFill>
              <a:srgbClr val="3A3A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09905" y="16916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계기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707185" y="169164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코드 점검 요청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09905" y="21488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방법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707185" y="210312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리뷰 에이전트 4개가 영역별로 코드를 읽고, 확인된 것만 수정 + Editor.log 대조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09905" y="48463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14건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609905" y="537667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발견한 이슈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53105" y="4892040"/>
            <a:ext cx="0" cy="868680"/>
          </a:xfrm>
          <a:prstGeom prst="line">
            <a:avLst/>
          </a:prstGeom>
          <a:noFill/>
          <a:ln w="9525">
            <a:solidFill>
              <a:srgbClr val="3A3A3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27425" y="4846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3627425" y="537667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높음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96305" y="4892040"/>
            <a:ext cx="0" cy="868680"/>
          </a:xfrm>
          <a:prstGeom prst="line">
            <a:avLst/>
          </a:prstGeom>
          <a:noFill/>
          <a:ln w="9525">
            <a:solidFill>
              <a:srgbClr val="3A3A3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70625" y="4846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8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6370625" y="537667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중간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839505" y="4892040"/>
            <a:ext cx="0" cy="868680"/>
          </a:xfrm>
          <a:prstGeom prst="line">
            <a:avLst/>
          </a:prstGeom>
          <a:noFill/>
          <a:ln w="9525">
            <a:solidFill>
              <a:srgbClr val="3A3A3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13825" y="4846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9113825" y="537667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낮음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09905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QA REPORT  ·  FISH GAME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0" y="6446520"/>
            <a:ext cx="1066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/ 35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905" y="3200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R2  ·  1차 전체 QA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09905" y="5943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발견한 문제와 조치  (1/2)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09905" y="1417320"/>
            <a:ext cx="109728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905" y="1600200"/>
          <a:ext cx="109728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188720"/>
                <a:gridCol w="4206240"/>
                <a:gridCol w="3931920"/>
                <a:gridCol w="9144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7A7A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심각도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7A7A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영역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7A7A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문제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7A7A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조치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7A7A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상태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6385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66CC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높음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충돌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플레이어 콜라이더가 트리거라 닫힌 통로·장애물을 그냥 통과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플레이어 콜라이더 solid + Wall 레이어 (물고기↔벽 무시, 플레이어↔벽 충돌)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66C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✓ 수정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07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66CC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높음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보스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보스가 플레이어 바로 위에 풀려나 즉사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반대쪽에 스폰, 부스터 즉시 해제, 보스 1.5초 경직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66C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✓ 수정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85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66CC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높음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도감 UI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CodexRow 클래스가 CodexUI.cs 안에 있어 행 프리팹 스크립트 누락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CodexRow.cs로 분리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66C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✓ 수정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85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66CC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높음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씬 생성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씬을 만들 때 GameDatabase 참조가 비어 저장됨 (Editor.log 경고의 원인)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새 씬을 연 뒤 DB 재로드 + 참조 검증, 생성 전 저장 확인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66C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✓ 수정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07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중간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AI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속도 상한이 매복·도망·미끼 가속을 지움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패턴이 낸 속도는 상한에서 보존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66C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✓ 수정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07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중간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부스터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장애물 옆에서 반대로 대쉬해도 끊김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장애물 쪽으로 향할 때만 차단, 중심 반대로 튕김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66C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✓ 수정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85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중간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카메라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통로 입구에서 플레이어가 화면 밖으로 밀려남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플레이어가 항상 화면 75% 안에 오게 보정, 판 시작 시 즉시 맞춤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66C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✓ 수정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09905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QA REPORT  ·  FISH GAME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515600" y="6446520"/>
            <a:ext cx="1066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/ 35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905" y="3200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R2  ·  1차 전체 QA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09905" y="5943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발견한 문제와 조치  (2/2)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09905" y="1417320"/>
            <a:ext cx="109728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905" y="1600200"/>
          <a:ext cx="109728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188720"/>
                <a:gridCol w="4206240"/>
                <a:gridCol w="3931920"/>
                <a:gridCol w="9144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7A7A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심각도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7A7A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영역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7A7A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문제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7A7A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조치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7A7A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상태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4107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중간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스폰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깊은 구역에서 시작하면 첫 물고기가 플레이어 옆에 몰림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카메라 줌을 먼저 맞춘 뒤 스폰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66C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✓ 수정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07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중간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세이브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저장 도중 종료되면 세이브가 유실될 수 있음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flush 후 File.Replace, .tmp에서도 복구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66C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✓ 수정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07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중간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비용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배율 1.2가 float 오차로 1 더 비싸게 계산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소수 6자리 반올림 후 올림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66C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✓ 수정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85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중간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판 종료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보스를 먹은 프레임에도 계속 먹고 물림 / 일시정지 중 종료 시 멈춤 유지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종료 후 포식 차단, 일시정지 해제·패널 닫기, 사망 히트스톱 보존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66C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✓ 수정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07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중간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히든 아이템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주운 보너스가 다음 판 스탯에 반영 안 됨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판 종료 시 스탯 재계산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66C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✓ 수정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07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7A7A7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낮음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HUD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시간 바 색 그라디언트가 비어 있음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기본 초록→노랑→빨강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66C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✓ 수정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63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7A7A7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낮음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기타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다른 구역 통로가 열려도 화면 흔들림 / 히든 % 문구 하드코딩 / 큰 종이 장애물 안에 스폰 / AI 추격 판정이 포식 판정과 다름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각각 수정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66C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✓ 수정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09905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QA REPORT  ·  FISH GAME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515600" y="6446520"/>
            <a:ext cx="1066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/ 35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72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905" y="3200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997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R3  ·  2026-09-24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09905" y="5943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스킬트리 도면형 개편 리뷰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09905" y="1417320"/>
            <a:ext cx="10972800" cy="0"/>
          </a:xfrm>
          <a:prstGeom prst="line">
            <a:avLst/>
          </a:prstGeom>
          <a:noFill/>
          <a:ln w="9525">
            <a:solidFill>
              <a:srgbClr val="3A3A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09905" y="16916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계기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707185" y="169164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스킬트리를 draw.io 도면(231칸 거미줄형)으로 교체 + 수중 실험실 연출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09905" y="21488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방법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707185" y="210312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컴파일 오류 중심 코드 리뷰 2회 + 새 비용 곡선 시뮬레이션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09905" y="48463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7건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609905" y="537667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발견한 이슈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09905" y="559612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높음 1 · 중간 3 · 낮음 3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53105" y="4892040"/>
            <a:ext cx="0" cy="868680"/>
          </a:xfrm>
          <a:prstGeom prst="line">
            <a:avLst/>
          </a:prstGeom>
          <a:noFill/>
          <a:ln w="9525">
            <a:solidFill>
              <a:srgbClr val="3A3A3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27425" y="4846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231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3627425" y="537667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트리 칸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627425" y="55961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연결선 341 · 끊긴 곳 2군데 연결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96305" y="4892040"/>
            <a:ext cx="0" cy="868680"/>
          </a:xfrm>
          <a:prstGeom prst="line">
            <a:avLst/>
          </a:prstGeom>
          <a:noFill/>
          <a:ln w="9525">
            <a:solidFill>
              <a:srgbClr val="3A3A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70625" y="4846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102h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6370625" y="537667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옛 곡선 클리어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370625" y="55961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1.12배 단일 곡선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839505" y="4892040"/>
            <a:ext cx="0" cy="868680"/>
          </a:xfrm>
          <a:prstGeom prst="line">
            <a:avLst/>
          </a:prstGeom>
          <a:noFill/>
          <a:ln w="9525">
            <a:solidFill>
              <a:srgbClr val="3A3A3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13825" y="4846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4.4h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9113825" y="537667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 곡선 클리어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113825" y="55961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풀트리 +5.6h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09905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QA REPORT  ·  FISH GAME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0515600" y="6446520"/>
            <a:ext cx="1066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/ 35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905" y="3200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R3  ·  스킬트리 도면형 개편 리뷰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09905" y="5943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발견한 문제와 조치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09905" y="1417320"/>
            <a:ext cx="109728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905" y="1600200"/>
          <a:ext cx="109728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188720"/>
                <a:gridCol w="4206240"/>
                <a:gridCol w="3931920"/>
                <a:gridCol w="9144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7A7A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심각도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7A7A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영역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7A7A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문제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7A7A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조치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7A7A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상태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6385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66CC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높음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밸런스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칸이 231개가 되어 옛 곡선(1.12배)이면 클리어 102시간, 풀트리 불가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100번째 칸까지 1.10배, 이후 가격 고정 → 클리어 4.4h · 풀트리 +5.6h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66C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✓ 수정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85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중간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씬 생성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범례 슬롯에 GameObject를 넣어 참조가 null → 도형 범례가 안 보임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RectTransform으로 할당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66C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✓ 수정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85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중간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트리 데이터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스킬 에셋이 빠진 칸이 '두 번째 시작 칸'처럼 이웃을 열어 버림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시작 칸을 isRoot 필드로 명시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66C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✓ 수정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07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중간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세이브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트리가 없는 DB로 실행하면 찍은 칸 기록이 전부 삭제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트리가 비어 있으면 동기화 건너뜀 + 오류 로그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66C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✓ 수정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07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7A7A7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낮음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비용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1024번째 칸 이후 가격이 떨어질 수 있음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캐시 끝에서도 계속 오르게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66C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✓ 수정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07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7A7A7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낮음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연출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구매 거절 후 칸에 붉은 색조가 남음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흔들림 종료 프레임에 원래 색 복원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66C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✓ 수정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07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7A7A7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낮음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상세 패널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도형 아이콘이 긴 스킬 이름과 겹침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이름 칸 폭 축소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66C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✓ 수정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09905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QA REPORT  ·  FISH GAME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515600" y="6446520"/>
            <a:ext cx="1066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/ 35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72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905" y="3200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997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R4  ·  2026-09-24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09905" y="5943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2차 · 인게임 밸런스와 QA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09905" y="1417320"/>
            <a:ext cx="10972800" cy="0"/>
          </a:xfrm>
          <a:prstGeom prst="line">
            <a:avLst/>
          </a:prstGeom>
          <a:noFill/>
          <a:ln w="9525">
            <a:solidFill>
              <a:srgbClr val="3A3A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09905" y="16916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계기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707185" y="169164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인게임 밸런스 체크 + 전체 QA 요청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09905" y="21488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방법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707185" y="210312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리뷰 에이전트 3개 (스킬트리 · 플레이 루프 · 시뮬레이터↔게임 대조) + 진행 단계별 수치표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09905" y="48463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11건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609905" y="537667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발견한 이슈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53105" y="4892040"/>
            <a:ext cx="0" cy="868680"/>
          </a:xfrm>
          <a:prstGeom prst="line">
            <a:avLst/>
          </a:prstGeom>
          <a:noFill/>
          <a:ln w="9525">
            <a:solidFill>
              <a:srgbClr val="3A3A3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27425" y="4846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3627425" y="537667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높음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96305" y="4892040"/>
            <a:ext cx="0" cy="868680"/>
          </a:xfrm>
          <a:prstGeom prst="line">
            <a:avLst/>
          </a:prstGeom>
          <a:noFill/>
          <a:ln w="9525">
            <a:solidFill>
              <a:srgbClr val="3A3A3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70625" y="4846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6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6370625" y="537667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중간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839505" y="4892040"/>
            <a:ext cx="0" cy="868680"/>
          </a:xfrm>
          <a:prstGeom prst="line">
            <a:avLst/>
          </a:prstGeom>
          <a:noFill/>
          <a:ln w="9525">
            <a:solidFill>
              <a:srgbClr val="3A3A3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13825" y="4846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9113825" y="537667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낮음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09905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QA REPORT  ·  FISH GAME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0" y="6446520"/>
            <a:ext cx="1066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/ 35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905" y="3200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R4  ·  2차 · 인게임 밸런스와 QA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09905" y="5943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발견한 문제와 조치  (1/2)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09905" y="1417320"/>
            <a:ext cx="109728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905" y="1600200"/>
          <a:ext cx="109728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188720"/>
                <a:gridCol w="4206240"/>
                <a:gridCol w="3931920"/>
                <a:gridCol w="9144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7A7A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심각도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7A7A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영역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7A7A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문제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7A7A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조치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7A7A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상태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6385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66CC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높음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밸런스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시뮬레이터가 수입을 2~3배 부풀림 (구역 평균 × 크기 보너스) → 실제 클리어 약 10~12시간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먹은 종 단위로 다시 모델링, 구역 배율 재조정 → 4.49h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66C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✓ 수정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85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66CC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높음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보스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부스터 위력 강화(루트에서 9칸)로 보스를 크기 상관없이 삼킴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보스는 부스터로 못 삼킴 — 크기 43으로 직접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66C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✓ 수정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85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66CC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높음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AI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큰 종의 감지 거리가 몸 반경보다 작아 보스·상어·범고래가 추격·도주·매복을 안 함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몸 가장자리 사이 거리로 판정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66C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✓ 수정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85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중간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진행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새 구역에 닿아도 시작 구역이 그대로라 계속 어항에서 시작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처음 닿으면 자동 선택 (기본 크기 ≥ 구역 평균 42%일 때)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66C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✓ 수정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85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중간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재화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통로에서 먹은 물고기가 아래 구역 배율을 받음 (강→바다 통로 2배)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물고기의 원래 구역 배율 적용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66C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✓ 수정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09905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QA REPORT  ·  FISH GAME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515600" y="6446520"/>
            <a:ext cx="1066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/ 35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905" y="3200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R4  ·  2차 · 인게임 밸런스와 QA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09905" y="5943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발견한 문제와 조치  (2/2)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09905" y="1417320"/>
            <a:ext cx="109728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905" y="1600200"/>
          <a:ext cx="109728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188720"/>
                <a:gridCol w="4206240"/>
                <a:gridCol w="3931920"/>
                <a:gridCol w="9144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7A7A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심각도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7A7A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영역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7A7A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문제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7A7A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조치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7A7A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상태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6385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중간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세이브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예전 세이브가 트리 없는 DB로 한 번 저장되면 환불 없이 스킬 소실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버전이 아니라 내용으로 옛 세이브 판정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66C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✓ 수정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85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중간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메인 UI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메인 메뉴가 재화 글자를 덮어써 '다음 칸 가격'이 안 보임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스킬트리가 있으면 메뉴는 건드리지 않음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66C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✓ 수정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07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중간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포식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비늘 무적 중 포식자가 붙어 있으면 아무것도 못 먹음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무적 중엔 그 포식자만 건너뛰고 판정 계속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66C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✓ 수정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85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중간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AI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도망형이 평소 감지 반경만큼 지그재그 / 큰 물고기가 배회 목표에 즉시 도착해 떨림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흔들림 폭·배회 반경을 크기 기준으로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66C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✓ 수정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85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7A7A7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낮음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밸런스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보스 보상을 바다 바닥 값으로 계산 (실제 구조물은 46% 깊이) / 도감 보너스 합·곱 불일치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시뮬레이터를 게임과 같게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66C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✓ 수정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85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7A7A7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낮음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표시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부스터 위력 강화가 '+0 → +1'로 표시 / 먹기 연출 크기 고정 / 비늘 넉백이 큰 몸에서 안 보임 / 옛 용어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각각 수정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66C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✓ 수정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09905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QA REPORT  ·  FISH GAME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515600" y="6446520"/>
            <a:ext cx="1066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/ 35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905" y="3200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R4  ·  2차 · 인게임 밸런스와 QA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09905" y="5943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밸런스 재조정 — 구역 도달 시각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09905" y="1417320"/>
            <a:ext cx="109728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518465" y="1600200"/>
          <a:ext cx="69494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7818120" y="16459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7A7A7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구역 도달 시각 (누적 시간, h)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818120" y="201168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D1D1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시뮬레이터는 '구역 평균 재화 × 크기 보너스'로 수입을 셌지만, 게임은 먹은 종의 재화만 준다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818120" y="3108960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나보다 큰 상어·범고래가 평균을 끌어올려 수입이 2~3배 부풀었고, 게임 그대로면 클리어에 약 12시간이 걸렸다. 먹은 종 단위로 다시 계산한 뒤 구역 배율을 올려 4.5시간으로 되돌렸다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818120" y="4983480"/>
            <a:ext cx="374904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818120" y="512064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0066C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재조정 후 25회: 클리어 4.34 ~ 4.65h (중앙 4.49h), 풀트리 클리어 후 +5.5h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09905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QA REPORT  ·  FISH GAME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10515600" y="6446520"/>
            <a:ext cx="1066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 / 35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72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905" y="3200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997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R5  ·  2026-09-24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09905" y="5943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타이틀 · 설정 화면 추가 리뷰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09905" y="1417320"/>
            <a:ext cx="10972800" cy="0"/>
          </a:xfrm>
          <a:prstGeom prst="line">
            <a:avLst/>
          </a:prstGeom>
          <a:noFill/>
          <a:ln w="9525">
            <a:solidFill>
              <a:srgbClr val="3A3A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09905" y="16916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계기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707185" y="169164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타이틀 화면과 게임 설정(사운드 · 화면 · 조작) 추가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09905" y="21488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방법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707185" y="210312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 UI 코드 컴파일·런타임 리뷰 (키보드 탐색 · ESC 처리 · 페이드 · 글꼴 글리프)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09905" y="48463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6건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609905" y="537667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발견한 이슈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09905" y="559612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높음 0 · 중간 3 · 낮음 3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53105" y="4892040"/>
            <a:ext cx="0" cy="868680"/>
          </a:xfrm>
          <a:prstGeom prst="line">
            <a:avLst/>
          </a:prstGeom>
          <a:noFill/>
          <a:ln w="9525">
            <a:solidFill>
              <a:srgbClr val="3A3A3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27425" y="4846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3627425" y="537667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 화면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627425" y="55961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타이틀 · 설정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96305" y="4892040"/>
            <a:ext cx="0" cy="868680"/>
          </a:xfrm>
          <a:prstGeom prst="line">
            <a:avLst/>
          </a:prstGeom>
          <a:noFill/>
          <a:ln w="9525">
            <a:solidFill>
              <a:srgbClr val="3A3A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70625" y="4846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9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6370625" y="537667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설정 항목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370625" y="55961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사운드 4 · 화면 4 · 조작 1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839505" y="4892040"/>
            <a:ext cx="0" cy="868680"/>
          </a:xfrm>
          <a:prstGeom prst="line">
            <a:avLst/>
          </a:prstGeom>
          <a:noFill/>
          <a:ln w="9525">
            <a:solidFill>
              <a:srgbClr val="3A3A3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13825" y="4846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9113825" y="537667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여는 곳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113825" y="55961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타이틀 · 메인 · 일시정지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09905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QA REPORT  ·  FISH GAME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0515600" y="6446520"/>
            <a:ext cx="1066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 / 35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905" y="3200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R5  ·  타이틀 · 설정 화면 추가 리뷰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09905" y="5943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발견한 문제와 조치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09905" y="1417320"/>
            <a:ext cx="109728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905" y="1600200"/>
          <a:ext cx="109728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188720"/>
                <a:gridCol w="4206240"/>
                <a:gridCol w="3931920"/>
                <a:gridCol w="9144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7A7A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심각도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7A7A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영역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7A7A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문제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7A7A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조치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7A7A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상태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6385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중간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설정 창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방향키 탐색이 설정 창 밖(뒤의 타이틀 메뉴 · 일시정지 버튼)으로 새어 나감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설정 창이 떠 있는 동안 뒤 화면 버튼을 잠갔다가 닫을 때 복구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66C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✓ 수정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85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중간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타이틀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새 게임 확인 창에서 위아래 키로 뒤 메뉴(종료 등)를 고를 수 있음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확인 창 안에서만 좌우로 오가게 명시적 탐색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66C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✓ 수정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85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중간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일시정지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설정 창을 닫는 ESC가 일시정지까지 풀 수 있음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설정 창이 열려 있거나 방금 닫힌 프레임엔 일시정지가 ESC를 무시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66C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✓ 수정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85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7A7A7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낮음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타이틀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'새로 시작'을 누르면 화면은 어두워지는데 확인 창이 그 위에 남음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페이드 막을 맨 앞으로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66C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✓ 수정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07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7A7A7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낮음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글꼴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닫기 버튼의 ✕ 기호가 한글 글꼴에 없을 수 있음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× 로 교체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66C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✓ 수정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07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7A7A7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낮음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설정 창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탭을 바꿔도 테두리 색이 안 바뀜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이미 입힌 패널은 테두리 색만 갱신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66C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✓ 수정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09905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QA REPORT  ·  FISH GAME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515600" y="6446520"/>
            <a:ext cx="1066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/ 35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72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905" y="3200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997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R6  ·  2026-09-24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09905" y="5943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에디터 실행 테스트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09905" y="1417320"/>
            <a:ext cx="10972800" cy="0"/>
          </a:xfrm>
          <a:prstGeom prst="line">
            <a:avLst/>
          </a:prstGeom>
          <a:noFill/>
          <a:ln w="9525">
            <a:solidFill>
              <a:srgbClr val="3A3A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09905" y="16916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계기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707185" y="169164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타이틀 · 설정 추가 후 Unity 에디터에서 직접 실행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09905" y="21488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방법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707185" y="210312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씬 생성 → 타이틀 → 설정 3탭 → 메인 → 도감 · 초기화 확인 창 → 한 판 → 결과 → 타이틀 (16:10 게임 창)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09905" y="48463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7건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609905" y="537667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발견한 이슈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09905" y="559612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높음 1 · 중간 3 · 낮음 3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53105" y="4892040"/>
            <a:ext cx="0" cy="868680"/>
          </a:xfrm>
          <a:prstGeom prst="line">
            <a:avLst/>
          </a:prstGeom>
          <a:noFill/>
          <a:ln w="9525">
            <a:solidFill>
              <a:srgbClr val="3A3A3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27425" y="4846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8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3627425" y="537667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확인한 화면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627425" y="55961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타이틀 · 설정 · 메인 · 도감 외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96305" y="4892040"/>
            <a:ext cx="0" cy="868680"/>
          </a:xfrm>
          <a:prstGeom prst="line">
            <a:avLst/>
          </a:prstGeom>
          <a:noFill/>
          <a:ln w="9525">
            <a:solidFill>
              <a:srgbClr val="3A3A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70625" y="4846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6370625" y="537667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콘솔 오류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370625" y="55961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컴파일 · 실행 중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839505" y="4892040"/>
            <a:ext cx="0" cy="868680"/>
          </a:xfrm>
          <a:prstGeom prst="line">
            <a:avLst/>
          </a:prstGeom>
          <a:noFill/>
          <a:ln w="9525">
            <a:solidFill>
              <a:srgbClr val="3A3A3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13825" y="4846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9113825" y="537667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못 본 것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113825" y="55961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ESC 입력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09905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QA REPORT  ·  FISH GAME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0515600" y="6446520"/>
            <a:ext cx="1066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 / 35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905" y="3200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R6  ·  에디터 실행 테스트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09905" y="5943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발견한 문제와 조치  (1/2)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09905" y="1417320"/>
            <a:ext cx="109728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905" y="1600200"/>
          <a:ext cx="109728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188720"/>
                <a:gridCol w="4206240"/>
                <a:gridCol w="3931920"/>
                <a:gridCol w="9144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7A7A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심각도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7A7A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영역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7A7A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문제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7A7A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조치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7A7A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상태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8663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66CC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높음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시작 구역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스킬트리 환불 뒤에도 시작 구역이 바다로 남아, 크기 1로 시작하자마자 잡아먹힘 (생존 0초)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불러올 때 즉사하는 구역이면 버틸 수 있는 가장 깊은 구역으로 옮기고, 구역 버튼에 '위험 — 몸이 작음' 표시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66C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✓ 수정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85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중간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도감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목록 줄이 보기 영역보다 넓게 잡혀 왼쪽이 잘림 — 물고기 이름 · 아이콘이 안 보임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목록 폭을 보기 영역에 맞추고 줄 폭을 레이아웃이 정하게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66C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✓ 수정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85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중간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메인 화면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4번째 구역(바다) 버튼이 '탈출 시작' 버튼 밑에 가려져 고를 수 없음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오른쪽 패널을 다시 배치하고 구역 버튼을 44px로 낮춤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66C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✓ 수정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09905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QA REPORT  ·  FISH GAME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515600" y="6446520"/>
            <a:ext cx="1066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 / 35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905" y="3200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R6  ·  에디터 실행 테스트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09905" y="5943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발견한 문제와 조치  (2/2)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09905" y="1417320"/>
            <a:ext cx="109728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905" y="1600200"/>
          <a:ext cx="109728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188720"/>
                <a:gridCol w="4206240"/>
                <a:gridCol w="3931920"/>
                <a:gridCol w="9144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7A7A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심각도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7A7A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영역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7A7A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문제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7A7A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조치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7A7A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상태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6385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중간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메인 화면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16:10 화면에서 아래 범례가 오른쪽 패널 밑으로 파고듦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범례 판을 남은 폭에 맞춰 늘이고, 한 줄이 넘치면 줄여서 맞춤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66C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✓ 수정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85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7A7A7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낮음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UI 통일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구역 버튼(흰색) · 탈출 시작 · 초기화 · 도감 · 결과 · 일시정지 창이 옛 회색 스타일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수중 실험실 스타일로 통일 (초기화는 붉은 테두리)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66C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✓ 수정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85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7A7A7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낮음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타이틀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세이브 요약이 고른 버튼에 붙고, 버튼이 커질 때 오른쪽 아래로 밀려 보임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버튼 피벗을 가운데로, 요약을 한 칸 띄워 버튼 높이 가운데에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66C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✓ 수정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07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7A7A7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낮음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설정 창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고른 탭이 커지면서 옆 탭에 닿음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탭 피벗을 가운데로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66C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✓ 수정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09905" y="52578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7건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609905" y="578815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회차에서 발견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353105" y="5303520"/>
            <a:ext cx="0" cy="86868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627425" y="52578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1건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3627425" y="57881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높음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096305" y="5303520"/>
            <a:ext cx="0" cy="86868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370625" y="52578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6건</a:t>
            </a:r>
            <a:endParaRPr lang="en-US" sz="2800" dirty="0"/>
          </a:p>
        </p:txBody>
      </p:sp>
      <p:sp>
        <p:nvSpPr>
          <p:cNvPr id="13" name="Text 10"/>
          <p:cNvSpPr txBox="1"/>
          <p:nvPr/>
        </p:nvSpPr>
        <p:spPr>
          <a:xfrm>
            <a:off x="6370625" y="57881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중간 · 낮음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839505" y="5303520"/>
            <a:ext cx="0" cy="86868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113825" y="52578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7/7</a:t>
            </a:r>
            <a:endParaRPr lang="en-US" sz="2800" dirty="0"/>
          </a:p>
        </p:txBody>
      </p:sp>
      <p:sp>
        <p:nvSpPr>
          <p:cNvPr id="16" name="Text 13"/>
          <p:cNvSpPr txBox="1"/>
          <p:nvPr/>
        </p:nvSpPr>
        <p:spPr>
          <a:xfrm>
            <a:off x="9113825" y="57881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수정 완료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09905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QA REPORT  ·  FISH GAME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10515600" y="6446520"/>
            <a:ext cx="1066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 / 35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72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905" y="3200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997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R7  ·  2026-09-25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09905" y="5943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장애물 통과 · 인게임 배경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09905" y="1417320"/>
            <a:ext cx="10972800" cy="0"/>
          </a:xfrm>
          <a:prstGeom prst="line">
            <a:avLst/>
          </a:prstGeom>
          <a:noFill/>
          <a:ln w="9525">
            <a:solidFill>
              <a:srgbClr val="3A3A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09905" y="16916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계기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707185" y="169164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'오브젝트 통과현상' 확인 요청 + 인게임 배경을 메인 화면 톤으로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09905" y="21488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방법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707185" y="210312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장애물 · 물고기 충돌 코드 대조 (스프라이트 크기 vs 콜라이더, 레이어 충돌표, AI 이동)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09905" y="48463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3건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609905" y="537667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발견한 이슈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09905" y="559612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높음 1 · 중간 1 · 낮음 1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53105" y="4892040"/>
            <a:ext cx="0" cy="868680"/>
          </a:xfrm>
          <a:prstGeom prst="line">
            <a:avLst/>
          </a:prstGeom>
          <a:noFill/>
          <a:ln w="9525">
            <a:solidFill>
              <a:srgbClr val="3A3A3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27425" y="4846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3627425" y="537667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원인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627425" y="55961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그림 크기 · AI 트리거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96305" y="4892040"/>
            <a:ext cx="0" cy="868680"/>
          </a:xfrm>
          <a:prstGeom prst="line">
            <a:avLst/>
          </a:prstGeom>
          <a:noFill/>
          <a:ln w="9525">
            <a:solidFill>
              <a:srgbClr val="3A3A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70625" y="4846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6370625" y="537667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 배경 요소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370625" y="55961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 톤 · 격자 · 빛줄기 · 물방울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839505" y="4892040"/>
            <a:ext cx="0" cy="868680"/>
          </a:xfrm>
          <a:prstGeom prst="line">
            <a:avLst/>
          </a:prstGeom>
          <a:noFill/>
          <a:ln w="9525">
            <a:solidFill>
              <a:srgbClr val="3A3A3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13825" y="4846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대기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9113825" y="537667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실행 확인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113825" y="55961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Unity가 닫혀 있음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09905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QA REPORT  ·  FISH GAME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0515600" y="6446520"/>
            <a:ext cx="1066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 / 35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905" y="3200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R7  ·  장애물 통과 · 인게임 배경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09905" y="5943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발견한 문제와 조치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09905" y="1417320"/>
            <a:ext cx="109728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905" y="1600200"/>
          <a:ext cx="109728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188720"/>
                <a:gridCol w="4206240"/>
                <a:gridCol w="3931920"/>
                <a:gridCol w="9144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7A7A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심각도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7A7A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영역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7A7A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문제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7A7A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조치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7A7A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상태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8663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66CC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높음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장애물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원 · 삼각 장애물 그림이 콜라이더의 2배(64px/32ppu 스프라이트에 크기를 그대로 곱함) — 하수구 · 강 · 바다에서 물고기가 장애물 바깥 절반을 뚫고 지나가 보임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스프라이트 실제 크기로 나눠 그림 = 콜라이더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66C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✓ 수정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85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중간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AI 물고기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AI는 트리거 콜라이더 + 충돌표에서 벽 제외 — 쫓거나 돌진할 때 회피 힘을 이겨 장애물을 관통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매 물리 프레임 실제 모양(네모 · 원 · 삼각)으로 겹침을 풀고 장애물 쪽 속도 제거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66C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✓ 수정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85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7A7A7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낮음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플레이어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부스터처럼 빠를 때 한 프레임에 콜라이더를 건너뛸 수 있음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벽 안전망과 같은 자리에서 장애물 밀어내기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66C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✓ 수정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09905" y="52578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3건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609905" y="578815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회차에서 발견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353105" y="5303520"/>
            <a:ext cx="0" cy="86868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627425" y="52578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1건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3627425" y="57881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높음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096305" y="5303520"/>
            <a:ext cx="0" cy="86868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370625" y="52578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2건</a:t>
            </a:r>
            <a:endParaRPr lang="en-US" sz="2800" dirty="0"/>
          </a:p>
        </p:txBody>
      </p:sp>
      <p:sp>
        <p:nvSpPr>
          <p:cNvPr id="13" name="Text 10"/>
          <p:cNvSpPr txBox="1"/>
          <p:nvPr/>
        </p:nvSpPr>
        <p:spPr>
          <a:xfrm>
            <a:off x="6370625" y="57881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중간 · 낮음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839505" y="5303520"/>
            <a:ext cx="0" cy="86868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113825" y="52578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3/3</a:t>
            </a:r>
            <a:endParaRPr lang="en-US" sz="2800" dirty="0"/>
          </a:p>
        </p:txBody>
      </p:sp>
      <p:sp>
        <p:nvSpPr>
          <p:cNvPr id="16" name="Text 13"/>
          <p:cNvSpPr txBox="1"/>
          <p:nvPr/>
        </p:nvSpPr>
        <p:spPr>
          <a:xfrm>
            <a:off x="9113825" y="57881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수정 완료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09905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QA REPORT  ·  FISH GAME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10515600" y="6446520"/>
            <a:ext cx="1066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 / 35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72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905" y="3200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997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R8  ·  2026-09-25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09905" y="5943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3차 버그 점검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09905" y="1417320"/>
            <a:ext cx="10972800" cy="0"/>
          </a:xfrm>
          <a:prstGeom prst="line">
            <a:avLst/>
          </a:prstGeom>
          <a:noFill/>
          <a:ln w="9525">
            <a:solidFill>
              <a:srgbClr val="3A3A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09905" y="16916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계기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707185" y="169164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'또 다른 버그 있으면 확인하고 수정' 요청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09905" y="21488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방법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707185" y="210312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전수 리뷰(서브 에이전트) + 에디터 실행 (어항 · 하수구, 개발자 모드로 구역 이동)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09905" y="48463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7건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609905" y="537667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발견한 이슈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09905" y="559612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높음 0 · 중간 3 · 낮음 4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53105" y="4892040"/>
            <a:ext cx="0" cy="868680"/>
          </a:xfrm>
          <a:prstGeom prst="line">
            <a:avLst/>
          </a:prstGeom>
          <a:noFill/>
          <a:ln w="9525">
            <a:solidFill>
              <a:srgbClr val="3A3A3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27425" y="4846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3627425" y="537667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콘솔 오류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627425" y="55961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컴파일 · 실행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96305" y="4892040"/>
            <a:ext cx="0" cy="868680"/>
          </a:xfrm>
          <a:prstGeom prst="line">
            <a:avLst/>
          </a:prstGeom>
          <a:noFill/>
          <a:ln w="9525">
            <a:solidFill>
              <a:srgbClr val="3A3A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70625" y="4846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6370625" y="537667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확인한 구역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370625" y="55961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어항 · 하수구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839505" y="4892040"/>
            <a:ext cx="0" cy="868680"/>
          </a:xfrm>
          <a:prstGeom prst="line">
            <a:avLst/>
          </a:prstGeom>
          <a:noFill/>
          <a:ln w="9525">
            <a:solidFill>
              <a:srgbClr val="3A3A3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13825" y="4846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전체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9113825" y="537667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리뷰 범위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113825" y="55961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Scripts · Editor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09905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QA REPORT  ·  FISH GAME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0515600" y="6446520"/>
            <a:ext cx="1066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22 / 35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905" y="3200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R8  ·  3차 버그 점검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09905" y="5943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발견한 문제와 조치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09905" y="1417320"/>
            <a:ext cx="109728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905" y="1600200"/>
          <a:ext cx="109728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188720"/>
                <a:gridCol w="4206240"/>
                <a:gridCol w="3931920"/>
                <a:gridCol w="9144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7A7A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심각도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7A7A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영역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7A7A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문제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7A7A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조치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7A7A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상태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6385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중간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인게임 배경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선형 색공간에서 물 메시 정점 색이 변환되지 않아 물이 뿌옇고 밝게 뜸 (의도한 어두운 청록이 안 나옴)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정점 색을 .linear로 변환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66C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✓ 수정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85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중간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결과 화면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새 구역에 처음 닿으면 '시작 구역'이 다음 판 값으로 바뀐 뒤 기록돼 경로가 '하수구'처럼 한 구역만 표시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정산 전에 이번 판 시작 구역을 따로 잡아 둠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66C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✓ 수정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85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7A7A7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낮음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시작 구역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몸이 커서 더 깊은 구역으로 옮길 때 그 구역을 열지 않아 세이브 · 메뉴 선택 표시가 어긋남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EnsureStartZoneFits와 같이 구역을 열고 저장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66C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✓ 수정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85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7A7A7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낮음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스폰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통로 안에서 태어난 물고기가 아래 구역 소속이 되어 첫 프레임에 통로 길이만큼 아래로 순간이동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통로 안은 위 구역 소속으로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66C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✓ 수정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85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7A7A7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낮음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HUD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시간 임박 중 일시정지하면 심박음 · 붉은 테두리가 계속됨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일시정지 중엔 끔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66C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✓ 수정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07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7A7A7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낮음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개발자 모드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'칸 0개도달 1구역'처럼 글자가 붙어 나옴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간격 추가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66C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✓ 수정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85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중간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미사일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미사일이 장애물 · 닫힌 통로 · 벽을 뚫고 날아가 건너편 물고기를 먹음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매 프레임 이동 경로를 쓸어 벽에 닿으면 소멸 + 판정 원 안이라도 사이에 벽이 있으면 못 맞힘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66C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✓ 수정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09905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QA REPORT  ·  FISH GAME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515600" y="6446520"/>
            <a:ext cx="1066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23 / 35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72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905" y="3200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997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R9  ·  2026-09-29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09905" y="5943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스킬트리 메인 화면 개편 · 칸별 고정 가격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09905" y="1417320"/>
            <a:ext cx="10972800" cy="0"/>
          </a:xfrm>
          <a:prstGeom prst="line">
            <a:avLst/>
          </a:prstGeom>
          <a:noFill/>
          <a:ln w="9525">
            <a:solidFill>
              <a:srgbClr val="3A3A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09905" y="16916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계기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707185" y="169164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트리를 화면 전체로, UI 정리, 툴팁, 다음 칸만 보이기, 찍을 때 가격 상승 제거 요청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09905" y="21488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방법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707185" y="210312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밸런스 시뮬레이터로 가격 방식 비교 (BFS 순번 vs 깊이 × 배율, 25회) + 정적 검사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09905" y="48463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5건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609905" y="537667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발견한 이슈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09905" y="559612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높음 1 · 중간 2 · 낮음 2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53105" y="4892040"/>
            <a:ext cx="0" cy="868680"/>
          </a:xfrm>
          <a:prstGeom prst="line">
            <a:avLst/>
          </a:prstGeom>
          <a:noFill/>
          <a:ln w="9525">
            <a:solidFill>
              <a:srgbClr val="3A3A3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27425" y="4846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4.43h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3627425" y="537667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클리어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627425" y="55961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시뮬 중앙 (25회)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96305" y="4892040"/>
            <a:ext cx="0" cy="868680"/>
          </a:xfrm>
          <a:prstGeom prst="line">
            <a:avLst/>
          </a:prstGeom>
          <a:noFill/>
          <a:ln w="9525">
            <a:solidFill>
              <a:srgbClr val="3A3A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70625" y="4846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+1.0h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6370625" y="537667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풀트리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370625" y="55961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클리어 후 (예전 +5.5h)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839505" y="4892040"/>
            <a:ext cx="0" cy="868680"/>
          </a:xfrm>
          <a:prstGeom prst="line">
            <a:avLst/>
          </a:prstGeom>
          <a:noFill/>
          <a:ln w="9525">
            <a:solidFill>
              <a:srgbClr val="3A3A3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13825" y="4846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9113825" y="537667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남긴 UI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113825" y="55961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재화 · 맵 · 설정 · 도감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09905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QA REPORT  ·  FISH GAME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0515600" y="6446520"/>
            <a:ext cx="1066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 / 35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905" y="3200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R9  ·  스킬트리 메인 화면 개편 · 칸별 고정 가격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09905" y="5943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발견한 문제와 조치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09905" y="1417320"/>
            <a:ext cx="109728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905" y="1600200"/>
          <a:ext cx="109728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188720"/>
                <a:gridCol w="4206240"/>
                <a:gridCol w="3931920"/>
                <a:gridCol w="9144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7A7A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심각도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7A7A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영역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7A7A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문제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7A7A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조치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7A7A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상태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6385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66CC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높음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가격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칸 순번을 BFS 순서로 그대로 고정하면 깊은 칸이 처음부터 비싸 클리어 127시간으로 무너짐 (시뮬 25회)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깊이 × 5 번째 곡선 값으로 — 클리어 중앙 4.43h (목표 4.5h), 풀트리 클리어 후 +1.0h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66C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✓ 수정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85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중간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스킬트리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숨은 칸으로 이어지는 선 · 모듈 판이 남으면 다음 칸 위치가 드러남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두 끝이 모두 보이는 선만, 한 칸이라도 드러난 판만 표시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66C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✓ 수정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85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7A7A7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낮음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툴팁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줌 · 드래그 중 툴팁이 칸에서 떨어짐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매 프레임 칸 옆으로 다시 붙이고 화면 밖이면 반대편으로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66C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✓ 수정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85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중간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밸런스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장애물 · 히든 아이템 삭제로 히든 재화 보너스(+최대 40%)가 사라져 클리어가 5.04h로 늘어남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가격 깊이 배율 5 → 4.75로 재조정 — 클리어 중앙 4.49h, 풀트리 클리어 후 +1.2h (12회)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66C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✓ 수정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85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7A7A7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낮음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밸런스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부스터 · 청소기 · 황금 미끼 해금이 15~30으로 너무 싸 첫 판 만에 찍힘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세 칸만 가격 5배(75 · 125 · 150), 깊이 배율 4.75 → 4.6으로 전체 클리어 4.62h 유지 (12회)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66C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✓ 수정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09905" y="52578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5건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609905" y="578815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회차에서 발견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353105" y="5303520"/>
            <a:ext cx="0" cy="86868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627425" y="52578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1건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3627425" y="57881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높음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096305" y="5303520"/>
            <a:ext cx="0" cy="86868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370625" y="52578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4건</a:t>
            </a:r>
            <a:endParaRPr lang="en-US" sz="2800" dirty="0"/>
          </a:p>
        </p:txBody>
      </p:sp>
      <p:sp>
        <p:nvSpPr>
          <p:cNvPr id="13" name="Text 10"/>
          <p:cNvSpPr txBox="1"/>
          <p:nvPr/>
        </p:nvSpPr>
        <p:spPr>
          <a:xfrm>
            <a:off x="6370625" y="57881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중간 · 낮음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839505" y="5303520"/>
            <a:ext cx="0" cy="86868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113825" y="52578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5/5</a:t>
            </a:r>
            <a:endParaRPr lang="en-US" sz="2800" dirty="0"/>
          </a:p>
        </p:txBody>
      </p:sp>
      <p:sp>
        <p:nvSpPr>
          <p:cNvPr id="16" name="Text 13"/>
          <p:cNvSpPr txBox="1"/>
          <p:nvPr/>
        </p:nvSpPr>
        <p:spPr>
          <a:xfrm>
            <a:off x="9113825" y="57881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수정 완료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09905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QA REPORT  ·  FISH GAME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10515600" y="6446520"/>
            <a:ext cx="1066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 / 35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72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905" y="3200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997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R10  ·  2026-10-05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09905" y="5943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플레이 시간 표기 · 포식 가시성 · 노가다 완화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09905" y="1417320"/>
            <a:ext cx="10972800" cy="0"/>
          </a:xfrm>
          <a:prstGeom prst="line">
            <a:avLst/>
          </a:prstGeom>
          <a:noFill/>
          <a:ln w="9525">
            <a:solidFill>
              <a:srgbClr val="3A3A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09905" y="16916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계기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707185" y="169164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외부 QA — 결과 화면 생존 시간이 실제와 다름, 먹을 수 있는 물고기 구분 필요, 스킬 재화 노가다가 심함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09905" y="21488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방법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707185" y="210312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추적 + 밸런스 시뮬레이터 리튠 (6회 · 12회 반복, 실제 플레이어처럼 '살 수 있으면 바로 사는' 구매 모델로 교체)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09905" y="48463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4건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609905" y="537667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발견한 이슈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09905" y="559612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높음 2 · 중간 2 · 낮음 0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53105" y="4892040"/>
            <a:ext cx="0" cy="868680"/>
          </a:xfrm>
          <a:prstGeom prst="line">
            <a:avLst/>
          </a:prstGeom>
          <a:noFill/>
          <a:ln w="9525">
            <a:solidFill>
              <a:srgbClr val="3A3A3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27425" y="4846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2.3h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3627425" y="537667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클리어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627425" y="55961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시뮬 중앙 (예전 6.1h)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96305" y="4892040"/>
            <a:ext cx="0" cy="868680"/>
          </a:xfrm>
          <a:prstGeom prst="line">
            <a:avLst/>
          </a:prstGeom>
          <a:noFill/>
          <a:ln w="9525">
            <a:solidFill>
              <a:srgbClr val="3A3A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70625" y="4846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68%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6370625" y="537667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구매한 판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370625" y="55961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예전 14%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839505" y="4892040"/>
            <a:ext cx="0" cy="868680"/>
          </a:xfrm>
          <a:prstGeom prst="line">
            <a:avLst/>
          </a:prstGeom>
          <a:noFill/>
          <a:ln w="9525">
            <a:solidFill>
              <a:srgbClr val="3A3A3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13825" y="4846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89초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9113825" y="537667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판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113825" y="55961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예전 30초 · 총 88판 (예전 553판)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09905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QA REPORT  ·  FISH GAME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0515600" y="6446520"/>
            <a:ext cx="1066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26 / 35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905" y="3200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R10  ·  플레이 시간 표기 · 포식 가시성 · 노가다 완화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09905" y="5943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발견한 문제와 조치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09905" y="1417320"/>
            <a:ext cx="109728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905" y="1600200"/>
          <a:ext cx="109728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188720"/>
                <a:gridCol w="4206240"/>
                <a:gridCol w="3931920"/>
                <a:gridCol w="9144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7A7A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심각도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7A7A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영역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7A7A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문제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7A7A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조치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7A7A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상태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8663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66CC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높음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플레이 시간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제한시간 소모가 처음부터 가속돼 안 먹고 버티면 30초 제한인데 약 20초로 찍힘 — 표시된 제한시간과 실제 시간이 다름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첫 제한시간(30초)까지는 1배로 정직하게 흐르고 그 뒤부터 가속. 결과는 일시정지를 뺀 실제 벽시계 시간으로 기록, 라벨 '플레이 시간'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66C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✓ 수정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63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중간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가시성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어떤 물고기를 먹을 수 있고 어떤 물고기가 위험한지 크기만으로는 구분이 어려움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물고기 뒤에 옅은 빛 — 초록 = 먹을 수 있음, 빨강(맥박) = 나를 먹을 수 있음. 실제 포식 판정과 같은 기준이라 판 중에 커지면 바로 색이 바뀜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66C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✓ 수정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63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66CC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높음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밸런스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구매가 일어나는 판이 14%뿐, 최장 30판 연속 빈손, 첫 구역(어항)에서만 4시간 — 노가다 체감의 원인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재화 2배, 판 안 성장 0.15→0.5, 소모 가속 2.2→1.0, 어항·하수구 재화 상향, 가격 깊이 배율 4.6→6.0 — 구매한 판 68%, 최장 빈손 6~7판, 어항 11분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66C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✓ 수정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85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중간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데이터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구역 에셋의 재화 배율이 생성기 값과 달라(어항 0.29 / 하수구 0.13 등) 실제 게임이 시뮬보다 훨씬 느렸음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에셋과 ContentGenerator를 새 값(1.2 · 1.0 · 0.198 · 0.209)으로 통일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66C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✓ 수정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09905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QA REPORT  ·  FISH GAME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515600" y="6446520"/>
            <a:ext cx="1066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27 / 35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272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905" y="3200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997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R11  ·  2026-10-05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09905" y="5943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R10 변경분 실기 검증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09905" y="1417320"/>
            <a:ext cx="10972800" cy="0"/>
          </a:xfrm>
          <a:prstGeom prst="line">
            <a:avLst/>
          </a:prstGeom>
          <a:noFill/>
          <a:ln w="9525">
            <a:solidFill>
              <a:srgbClr val="3A3A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09905" y="16916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계기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707185" y="169164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R10 수정(플레이 시간 · 포식 빛 · 리밸런스)이 실제 에디터에서 의도대로 동작하는지 확인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09905" y="21488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방법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707185" y="210312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Unity 6000.3 에디터 플레이 모드 실기 테스트 (세이브 백업 후 새 게임 3판) + 컴파일 확인 + 에셋 값 대조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09905" y="48463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5건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609905" y="537667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발견한 이슈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09905" y="559612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높음 0 · 중간 1 · 낮음 4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53105" y="4892040"/>
            <a:ext cx="0" cy="868680"/>
          </a:xfrm>
          <a:prstGeom prst="line">
            <a:avLst/>
          </a:prstGeom>
          <a:noFill/>
          <a:ln w="9525">
            <a:solidFill>
              <a:srgbClr val="3A3A3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27425" y="4846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3627425" y="537667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컴파일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627425" y="55961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에러 · 경고 0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96305" y="4892040"/>
            <a:ext cx="0" cy="868680"/>
          </a:xfrm>
          <a:prstGeom prst="line">
            <a:avLst/>
          </a:prstGeom>
          <a:noFill/>
          <a:ln w="9525">
            <a:solidFill>
              <a:srgbClr val="3A3A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70625" y="4846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00:30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6370625" y="537667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플레이 시간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370625" y="55961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 먹고 버틴 판 (예전 ~20초)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839505" y="4892040"/>
            <a:ext cx="0" cy="868680"/>
          </a:xfrm>
          <a:prstGeom prst="line">
            <a:avLst/>
          </a:prstGeom>
          <a:noFill/>
          <a:ln w="9525">
            <a:solidFill>
              <a:srgbClr val="3A3A3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13825" y="4846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9113825" y="537667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수정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113825" y="55961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포식 빛 가시성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09905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QA REPORT  ·  FISH GAME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0515600" y="6446520"/>
            <a:ext cx="1066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28 / 35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905" y="3200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R11  ·  R10 변경분 실기 검증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09905" y="5943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발견한 문제와 조치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09905" y="1417320"/>
            <a:ext cx="109728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905" y="1600200"/>
          <a:ext cx="109728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188720"/>
                <a:gridCol w="4206240"/>
                <a:gridCol w="3931920"/>
                <a:gridCol w="9144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7A7A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심각도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7A7A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영역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7A7A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문제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7A7A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조치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7A7A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상태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6385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7A7A7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낮음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플레이 시간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검증 — 안 먹고 버티면 00:30, 2마리 먹으면 00:32, 10초에 먹히면 00:10 (HUD 남은 시간과 일치)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이상 없음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66C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확인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63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중간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가시성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포식 빛이 붙긴 하지만 거의 보이지 않음 — 빛 점 스프라이트가 가장자리로 너무 빨리 흐려지고(알파 ≈ 0.08) 초록이 청록 물 색에 묻힘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안쪽은 꽉 차고 바깥 40%만 흐려지는 전용 빛으로 교체, 알파 초록 0.38→0.6 · 빨강 0.5→0.7 — 빨강은 확실히 보임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66C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✓ 수정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85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7A7A7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낮음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가시성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빛 크기가 물고기 그림에 비례해 치어처럼 작은 물고기는 초록 빛도 작아 눈에 덜 띔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플레이테스트 후 필요하면 최소 크기 지정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66C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확인 필요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63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7A7A7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낮음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데이터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전체 셋업을 다시 돌린 뒤에도 구역 재화 배율 · DB 값이 R10 값(1.2 · 1.0 · 0.198 · 0.209 / 성장 0.5 · 가속 1.0 · 재화 2배)으로 유지되는지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에셋 값 대조 — 일치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66C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확인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85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7A7A7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낮음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난이도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아무 조작 없이 두면 어항 포식자(수조 포식자)에게 10초 만에 먹힘 — 첫 판 체감이 거칠 수 있음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플레이테스트로 관찰 (조작하면 피할 수 있는 수준)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66C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확인 필요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09905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QA REPORT  ·  FISH GAME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515600" y="6446520"/>
            <a:ext cx="1066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29 / 35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272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905" y="3200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997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R12  ·  2026-10-12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09905" y="5943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3시간 플레이 테스트 반영 — 능력 과함 · 스폰 · 카메라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09905" y="1417320"/>
            <a:ext cx="10972800" cy="0"/>
          </a:xfrm>
          <a:prstGeom prst="line">
            <a:avLst/>
          </a:prstGeom>
          <a:noFill/>
          <a:ln w="9525">
            <a:solidFill>
              <a:srgbClr val="3A3A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09905" y="16916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계기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707185" y="169164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외부 테스트 메모(3시간, 23개 항목) + 개발자 결정 사항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09905" y="21488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방법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707185" y="210312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수정 + 밸런스 시뮬레이터 리튠(12회) + Unity 컴파일·플레이 확인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09905" y="48463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8건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609905" y="537667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발견한 이슈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09905" y="559612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높음 3 · 중간 5 · 낮음 0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53105" y="4892040"/>
            <a:ext cx="0" cy="868680"/>
          </a:xfrm>
          <a:prstGeom prst="line">
            <a:avLst/>
          </a:prstGeom>
          <a:noFill/>
          <a:ln w="9525">
            <a:solidFill>
              <a:srgbClr val="3A3A3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27425" y="4846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2.37h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3627425" y="537667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클리어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627425" y="55961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시뮬 중앙 (12회)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96305" y="4892040"/>
            <a:ext cx="0" cy="868680"/>
          </a:xfrm>
          <a:prstGeom prst="line">
            <a:avLst/>
          </a:prstGeom>
          <a:noFill/>
          <a:ln w="9525">
            <a:solidFill>
              <a:srgbClr val="3A3A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70625" y="4846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46초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6370625" y="537667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판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370625" y="55961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시간 보상 1/10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839505" y="4892040"/>
            <a:ext cx="0" cy="868680"/>
          </a:xfrm>
          <a:prstGeom prst="line">
            <a:avLst/>
          </a:prstGeom>
          <a:noFill/>
          <a:ln w="9525">
            <a:solidFill>
              <a:srgbClr val="3A3A3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13825" y="4846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7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9113825" y="537667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반영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113825" y="55961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테스트 메모 + 결정 사항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09905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QA REPORT  ·  FISH GAME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0515600" y="6446520"/>
            <a:ext cx="1066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 / 35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905" y="3200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R12  ·  3시간 플레이 테스트 반영 — 능력 과함 · 스폰 · 카메라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09905" y="5943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발견한 문제와 조치  (1/2)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09905" y="1417320"/>
            <a:ext cx="109728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905" y="1600200"/>
          <a:ext cx="109728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188720"/>
                <a:gridCol w="4206240"/>
                <a:gridCol w="3931920"/>
                <a:gridCol w="9144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7A7A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심각도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7A7A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영역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7A7A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문제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7A7A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조치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7A7A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상태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6385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66CC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높음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밸런스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물고기를 먹을 때 얻는 제한시간이 커서 한 판이 끝없이 늘어남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시간 보상 1/10 + 내 크기 절반보다 작은 먹이는 비례 감소(최소 20%) — 커질수록 큰 먹이를 노리게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66C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✓ 수정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63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66CC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높음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스폰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물고기가 다음(닫힌) 구역 · 통로에서 태어나 먹으러 갈 수 없고, 경계 아래에 쌓여 스폰 한도를 차지해 스폰이 멈춤 (테스트 17 · 21 · 22)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지금 구역 안에서만 스폰, 물고기는 통로로 내려가지 않음, 한도는 지금 구역 물고기만 셈, 다른 구역 물고기는 화면 밖으로 나가면 회수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66C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✓ 수정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63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중간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스폰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구역 물고기가 적고, 다음 구역에서도 잔챙이가 깔림 (테스트 9)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구역 개체 수 1.5배(39/45/51/57), 새 구역에 들어서면 절반 즉시 채움, 내 크기 30% 미만 종은 스폰 제외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66C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✓ 수정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85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66CC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높음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부스터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너무 멀리 나가고, 위력 강화 후 크기 무시로 두 단계 이상 큰 물고기까지 삼킴 (테스트 10 · 12 · 16)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거리 절반, 대쉬로 먹는 크기 1.6배→1.15배 · 위력 강화 크기 무시→1.6배, 대쉬 방향을 마우스 쪽으로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66C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✓ 수정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09905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QA REPORT  ·  FISH GAME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515600" y="6446520"/>
            <a:ext cx="1066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31 / 35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905" y="3200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R12  ·  3시간 플레이 테스트 반영 — 능력 과함 · 스폰 · 카메라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09905" y="5943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발견한 문제와 조치  (2/2)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09905" y="1417320"/>
            <a:ext cx="109728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905" y="1600200"/>
          <a:ext cx="109728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188720"/>
                <a:gridCol w="4206240"/>
                <a:gridCol w="3931920"/>
                <a:gridCol w="9144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7A7A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심각도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7A7A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영역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7A7A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문제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7A7A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조치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7A7A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상태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8663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중간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청소기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켜 두면 이득이라 끌 이유가 없고 범위가 너무 큼 (테스트 13 · 17)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좌클릭 한 번 → 1.5초 흡입 → 6초 재사용 대기, 범위 절반, 청소기 범위 강화 4칸 → 쿨타임 감소(다 찍으면 절반)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66C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✓ 수정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85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중간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카메라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벽 근처에서 플레이어가 화면 한쪽으로 쏠렸다 풀렸다 해 일관성이 없음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항상 플레이어 중심 (맵 끝에서도 멈추지 않음)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66C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✓ 수정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63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중간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스킬트리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시야 강화의 체감이 작고, 후반 맵에 비해 이동속도가 느림 (테스트 15)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카메라(시야) 22칸 → 꼬리지느러미(이동속도 +2%/칸, 다 찍으면 ×1.55), 커다란 배터리 24칸 유지, 가격 배율 6.0→5.5로 클리어 중앙 2.37h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66C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✓ 수정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94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중간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밸런스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하수구에 들어가자마자 물고기가 너무 크고 빠름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원인 분석 — 다음 판을 '도달한 가장 깊은 구역'에서 시작해 기본 크기(약 1.1~1.3)로 하수구(물고기 1.0~8.5, 추적형)에 떨어짐. 시작 구역 자동 선택 규칙 조정 검토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66C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확인 필요</a:t>
                      </a:r>
                      <a:endParaRPr lang="en-US" sz="13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09905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QA REPORT  ·  FISH GAME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515600" y="6446520"/>
            <a:ext cx="1066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32 / 35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905" y="3200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NEXT  OPEN RISKS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09905" y="5943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남은 위험 · 플레이테스트 체크리스트  (1/3)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09905" y="1417320"/>
            <a:ext cx="109728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905" y="1600200"/>
          <a:ext cx="109728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4206240"/>
                <a:gridCol w="3566160"/>
                <a:gridCol w="1097280"/>
                <a:gridCol w="9144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7A7A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영역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7A7A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위험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7A7A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다음 조치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7A7A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상태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7A7A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출처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6385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밸런스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바다 구간이 약 2시간(2.45 → 4.5h)으로 가장 김. 진입 직후 바다 물고기 66%가 나를 먹을 수 있음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플레이테스트 — 길거나 어려우면 초반 난이도·중간 목표 조정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66CC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확인 필요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7A7A7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R4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07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난이도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큰 포식자가 제대로 쫓아오게 되어 체감 난이도 상승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플레이테스트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66CC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확인 필요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7A7A7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R4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85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히든 아이템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몸이 어항 출구(12.6)·하수구 출구(27)보다 커지면 그 구역의 남은 아이템을 못 주움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위 구역 아이템을 아래로 옮기거나 보상 대체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7A7A7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미정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7A7A7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R4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07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미사일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장애물·닫힌 통로를 통과해 아래 구역 물고기를 잡음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R8 — 막히게 결정 · 수정 (사용자 요청)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7A7A7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해결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7A7A7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R4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85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스폰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바다에서 몸이 크면 스폰 링이 구역 밖이라 물고기가 화면 안에서 튀어나옴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링을 구역 크기로 제한하거나 페이드 인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7A7A7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미정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7A7A7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R4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07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볼트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강화 4번째 칸이 마비 상한(6초)에 걸려 일부만 효과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칸당 +50%로 낮출지 결정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7A7A7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미정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7A7A7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R4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85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스킬트리 UI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도형 범례 14개가 한 줄을 넘칠 수 있음 / 연출 때문에 매 프레임 UI 재빌드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R6 — 범례가 남은 폭을 넘으면 한 줄 전체를 줄여 맞추도록 수정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7A7A7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해결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7A7A7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R3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09905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QA REPORT  ·  FISH GAME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515600" y="6446520"/>
            <a:ext cx="1066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33 / 35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905" y="3200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NEXT  OPEN RISKS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09905" y="5943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남은 위험 · 플레이테스트 체크리스트  (2/3)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09905" y="1417320"/>
            <a:ext cx="109728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905" y="1600200"/>
          <a:ext cx="109728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4206240"/>
                <a:gridCol w="3566160"/>
                <a:gridCol w="1097280"/>
                <a:gridCol w="9144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7A7A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영역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7A7A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위험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7A7A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다음 조치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7A7A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상태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7A7A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출처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6385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사운드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배경음 파일이 아직 없어 배경음 슬라이더는 소리 변화가 없음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SoundBank의 menuMusic · gameplayMusic에 클립 넣기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7A7A7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미정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7A7A7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R5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85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설정 화면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해상도 · 화면 모드는 에디터에서 바뀌지 않아 빌드에서만 확인 가능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PC 빌드로 해상도 · 전체화면 전환 확인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66CC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확인 필요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7A7A7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R5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63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ESC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자동 테스트의 ESC 입력이 게임에 전달되지 않아 일시정지 열기 · 설정 창 ESC 닫기를 확인하지 못함 (Enter · 방향키는 정상)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직접 ESC로 일시정지 → 설정 → ESC 닫기 → ESC 재개 확인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66CC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확인 필요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7A7A7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R6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85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인게임 배경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이번 배경 · 통과 수정은 Unity가 닫혀 있어 실행 화면으로 확인하지 못함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R8 — 에디터에서 어항 · 하수구 확인 (선형 색 수정 후)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7A7A7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해결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7A7A7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R7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85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미사일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미사일이 장애물 · 닫힌 통로를 무시하고 날아가 건너편 물고기를 먹을 수 있음 (의도인지 미정)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R8 — 막히게 결정 · 수정 (사용자 요청)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7A7A7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해결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7A7A7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R8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09905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QA REPORT  ·  FISH GAME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515600" y="6446520"/>
            <a:ext cx="1066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34 / 35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905" y="3200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66C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NEXT  OPEN RISKS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09905" y="5943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남은 위험 · 플레이테스트 체크리스트  (3/3)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09905" y="1417320"/>
            <a:ext cx="109728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905" y="1600200"/>
          <a:ext cx="109728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4206240"/>
                <a:gridCol w="3566160"/>
                <a:gridCol w="1097280"/>
                <a:gridCol w="9144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7A7A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영역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7A7A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위험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7A7A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다음 조치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7A7A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상태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7A7A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출처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6385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스킬트리 화면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개편한 메인 화면은 Unity가 닫혀 있어 실행 확인 전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씬 생성 후 툴팁 위치 · 숨김 · 설정 메뉴 확인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66CC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확인 필요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7A7A7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R9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85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밸런스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칸별 고정 가격으로 풀트리 달성이 클리어 후 +5.5h → +1.0h로 짧아짐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더 길게 원하면 깊은 칸 가격만 올리기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7A7A7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미정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7A7A7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R9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85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밸런스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판 안 성장 0.5 · 재화 2배로 초반이 빨라져, 후반(강·바다) 체감이 상대적으로 길어질 수 있음.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플레이테스트 — 클리어 2~3시간, 판마다 구매가 일어나는지 확인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66CC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확인 필요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7A7A7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R10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85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가시성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포식 빛을 진하게 바꿔 물고기가 많은 바다 구간에서 화면이 붉게 어지러울 수 있음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바다 구간 플레이테스트 — 과하면 위험 빛 알파·크기 하향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66CC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확인 필요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7A7A7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R11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85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밸런스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시간 보상 1/10로 판이 짧아져(평균 36초) 큰 구역(강·바다)을 다 돌아보기 전에 끝날 수 있음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플레이테스트 — 짧으면 timeRewardScale 0.1 → 0.15~0.2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66CC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확인 필요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7A7A7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R12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85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하수구 초입</a:t>
                      </a:r>
                      <a:endParaRPr lang="en-US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기본 크기로 하수구에서 시작하면 대부분 물고기가 나보다 큼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시작 구역 자동 선택을 '기본 크기로 버틸 수 있는 구역'까지로 제한하는 안 검토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7A7A7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미정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7A7A7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R12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09905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QA REPORT  ·  FISH GAME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515600" y="6446520"/>
            <a:ext cx="1066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35 / 35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물고기 인크리멘탈 게임 QA 리포트</dc:title>
  <dc:subject>PptxGenJS Presentation</dc:subject>
  <dc:creator>PptxGenJS</dc:creator>
  <cp:lastModifiedBy>PptxGenJS</cp:lastModifiedBy>
  <cp:revision>1</cp:revision>
  <dcterms:created xsi:type="dcterms:W3CDTF">2026-10-12T12:38:03Z</dcterms:created>
  <dcterms:modified xsi:type="dcterms:W3CDTF">2026-10-12T12:38:03Z</dcterms:modified>
</cp:coreProperties>
</file>